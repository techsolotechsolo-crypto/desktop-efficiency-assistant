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embeddedFontLst>
    <p:embeddedFont>
      <p:font typeface="MiSans" panose="02010600030101010101" charset="-122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" name="band-strip"/>
          <p:cNvSpPr/>
          <p:nvPr/>
        </p:nvSpPr>
        <p:spPr>
          <a:xfrm>
            <a:off x="3352800" y="0"/>
            <a:ext cx="76200" cy="6858000"/>
          </a:xfrm>
          <a:prstGeom prst="rect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" name="band-label"/>
          <p:cNvSpPr txBox="1"/>
          <p:nvPr/>
        </p:nvSpPr>
        <p:spPr>
          <a:xfrm>
            <a:off x="406400" y="53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kern="0" spc="200" noProof="1">
                <a:solidFill>
                  <a:srgbClr val="FFFFFF"/>
                </a:solidFill>
                <a:latin typeface="MiSans"/>
                <a:ea typeface="MiSans"/>
              </a:rPr>
              <a:t>软件工程 · 课程大作业</a:t>
            </a:r>
            <a:endParaRPr lang="en-US" sz="1300" noProof="1"/>
          </a:p>
        </p:txBody>
      </p:sp>
      <p:sp>
        <p:nvSpPr>
          <p:cNvPr id="5" name="band-rule"/>
          <p:cNvSpPr/>
          <p:nvPr/>
        </p:nvSpPr>
        <p:spPr>
          <a:xfrm>
            <a:off x="406400" y="939800"/>
            <a:ext cx="609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6" name="band-bottom"/>
          <p:cNvSpPr txBox="1"/>
          <p:nvPr/>
        </p:nvSpPr>
        <p:spPr>
          <a:xfrm>
            <a:off x="406400" y="59436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G06 小组项目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2026 年 10 月</a:t>
            </a:r>
            <a:endParaRPr lang="en-US" sz="1300" noProof="1"/>
          </a:p>
        </p:txBody>
      </p:sp>
      <p:sp>
        <p:nvSpPr>
          <p:cNvPr id="7" name="label"/>
          <p:cNvSpPr txBox="1"/>
          <p:nvPr/>
        </p:nvSpPr>
        <p:spPr>
          <a:xfrm>
            <a:off x="41910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PROJECT PLAN</a:t>
            </a:r>
            <a:endParaRPr lang="en-US" sz="1300" noProof="1"/>
          </a:p>
        </p:txBody>
      </p:sp>
      <p:sp>
        <p:nvSpPr>
          <p:cNvPr id="8" name="title"/>
          <p:cNvSpPr txBox="1"/>
          <p:nvPr/>
        </p:nvSpPr>
        <p:spPr>
          <a:xfrm>
            <a:off x="4140200" y="2184400"/>
            <a:ext cx="76200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5400" b="1" noProof="1">
                <a:solidFill>
                  <a:srgbClr val="2B2B28"/>
                </a:solidFill>
                <a:latin typeface="MiSans"/>
                <a:ea typeface="MiSans"/>
              </a:rPr>
              <a:t>桌面效率助手</a:t>
            </a:r>
            <a:endParaRPr lang="en-US" sz="5400" noProof="1"/>
          </a:p>
        </p:txBody>
      </p:sp>
      <p:sp>
        <p:nvSpPr>
          <p:cNvPr id="9" name="subtitle"/>
          <p:cNvSpPr txBox="1"/>
          <p:nvPr/>
        </p:nvSpPr>
        <p:spPr>
          <a:xfrm>
            <a:off x="4191000" y="32512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8A877E"/>
                </a:solidFill>
                <a:latin typeface="MiSans"/>
                <a:ea typeface="MiSans"/>
              </a:rPr>
              <a:t>Windows 平台轻量悬浮桌面效率工具</a:t>
            </a:r>
            <a:endParaRPr lang="en-US" sz="1800" noProof="1"/>
          </a:p>
        </p:txBody>
      </p:sp>
      <p:sp>
        <p:nvSpPr>
          <p:cNvPr id="10" name="title-rule"/>
          <p:cNvSpPr/>
          <p:nvPr/>
        </p:nvSpPr>
        <p:spPr>
          <a:xfrm>
            <a:off x="4191000" y="3886200"/>
            <a:ext cx="812800" cy="50800"/>
          </a:xfrm>
          <a:prstGeom prst="rect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11" name="meta"/>
          <p:cNvSpPr txBox="1"/>
          <p:nvPr/>
        </p:nvSpPr>
        <p:spPr>
          <a:xfrm>
            <a:off x="4191000" y="42672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500" b="1" noProof="1">
                <a:solidFill>
                  <a:srgbClr val="2B2B28"/>
                </a:solidFill>
                <a:latin typeface="MiSans"/>
                <a:ea typeface="MiSans"/>
              </a:rPr>
              <a:t>目标平台</a:t>
            </a:r>
            <a:r>
              <a:rPr lang="en-US" sz="1500" noProof="1">
                <a:solidFill>
                  <a:srgbClr val="2B2B28"/>
                </a:solidFill>
                <a:latin typeface="MiSans"/>
                <a:ea typeface="MiSans"/>
              </a:rPr>
              <a:t>　Windows 桌面</a:t>
            </a:r>
            <a:endParaRPr lang="en-US" sz="1500" noProof="1"/>
          </a:p>
          <a:p>
            <a:pPr>
              <a:lnSpc>
                <a:spcPct val="180000"/>
              </a:lnSpc>
            </a:pPr>
            <a:r>
              <a:rPr lang="en-US" sz="1500" b="1" noProof="1">
                <a:solidFill>
                  <a:srgbClr val="2B2B28"/>
                </a:solidFill>
                <a:latin typeface="MiSans"/>
                <a:ea typeface="MiSans"/>
              </a:rPr>
              <a:t>目标用户</a:t>
            </a:r>
            <a:r>
              <a:rPr lang="en-US" sz="1500" noProof="1">
                <a:solidFill>
                  <a:srgbClr val="2B2B28"/>
                </a:solidFill>
                <a:latin typeface="MiSans"/>
                <a:ea typeface="MiSans"/>
              </a:rPr>
              <a:t>　在校大学生</a:t>
            </a:r>
            <a:endParaRPr lang="en-US" sz="1500" noProof="1"/>
          </a:p>
          <a:p>
            <a:pPr>
              <a:lnSpc>
                <a:spcPct val="180000"/>
              </a:lnSpc>
            </a:pPr>
            <a:r>
              <a:rPr lang="en-US" sz="1500" b="1" noProof="1">
                <a:solidFill>
                  <a:srgbClr val="2B2B28"/>
                </a:solidFill>
                <a:latin typeface="MiSans"/>
                <a:ea typeface="MiSans"/>
              </a:rPr>
              <a:t>技术栈</a:t>
            </a:r>
            <a:r>
              <a:rPr lang="en-US" sz="1500" noProof="1">
                <a:solidFill>
                  <a:srgbClr val="2B2B28"/>
                </a:solidFill>
                <a:latin typeface="MiSans"/>
                <a:ea typeface="MiSans"/>
              </a:rPr>
              <a:t>　Python · PyQt5 / PySide6 · SQLite</a:t>
            </a:r>
            <a:endParaRPr lang="en-US" sz="1500" noProof="1"/>
          </a:p>
          <a:p>
            <a:pPr>
              <a:lnSpc>
                <a:spcPct val="180000"/>
              </a:lnSpc>
            </a:pPr>
            <a:r>
              <a:rPr lang="en-US" sz="1500" b="1" noProof="1">
                <a:solidFill>
                  <a:srgbClr val="2B2B28"/>
                </a:solidFill>
                <a:latin typeface="MiSans"/>
                <a:ea typeface="MiSans"/>
              </a:rPr>
              <a:t>小组成员</a:t>
            </a:r>
            <a:r>
              <a:rPr lang="en-US" sz="1500" noProof="1">
                <a:solidFill>
                  <a:srgbClr val="2B2B28"/>
                </a:solidFill>
                <a:latin typeface="MiSans"/>
                <a:ea typeface="MiSans"/>
              </a:rPr>
              <a:t>　彭靖轩（组长） 邵博凯 孔世豪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00FB1-67A3-AA08-DDC6-57DC59B3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-title">
            <a:extLst>
              <a:ext uri="{FF2B5EF4-FFF2-40B4-BE49-F238E27FC236}">
                <a16:creationId xmlns:a16="http://schemas.microsoft.com/office/drawing/2014/main" id="{CC2CF789-6B9C-F83F-293E-EC05F9D7B519}"/>
              </a:ext>
            </a:extLst>
          </p:cNvPr>
          <p:cNvSpPr txBox="1"/>
          <p:nvPr/>
        </p:nvSpPr>
        <p:spPr>
          <a:xfrm>
            <a:off x="762000" y="914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2B2B28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目录</a:t>
            </a:r>
            <a:endParaRPr kumimoji="0" lang="en-US" sz="30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4" name="p-rule">
            <a:extLst>
              <a:ext uri="{FF2B5EF4-FFF2-40B4-BE49-F238E27FC236}">
                <a16:creationId xmlns:a16="http://schemas.microsoft.com/office/drawing/2014/main" id="{BA8E0D07-EDED-7520-78B9-BCFA89C994CB}"/>
              </a:ext>
            </a:extLst>
          </p:cNvPr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28C45080-1215-C3B6-0695-0ABDC828E0FA}"/>
              </a:ext>
            </a:extLst>
          </p:cNvPr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rgbClr val="8A877E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桌面效率助手 · 项目介绍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19" name="p-label">
            <a:extLst>
              <a:ext uri="{FF2B5EF4-FFF2-40B4-BE49-F238E27FC236}">
                <a16:creationId xmlns:a16="http://schemas.microsoft.com/office/drawing/2014/main" id="{D9220664-3B29-789B-B20B-106A7D050C82}"/>
              </a:ext>
            </a:extLst>
          </p:cNvPr>
          <p:cNvSpPr txBox="1"/>
          <p:nvPr/>
        </p:nvSpPr>
        <p:spPr>
          <a:xfrm>
            <a:off x="762000" y="1845129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01 · 项目总目标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21" name="p-label">
            <a:extLst>
              <a:ext uri="{FF2B5EF4-FFF2-40B4-BE49-F238E27FC236}">
                <a16:creationId xmlns:a16="http://schemas.microsoft.com/office/drawing/2014/main" id="{91D346B3-7F14-2FCA-57C0-B37AB3DC580A}"/>
              </a:ext>
            </a:extLst>
          </p:cNvPr>
          <p:cNvSpPr txBox="1"/>
          <p:nvPr/>
        </p:nvSpPr>
        <p:spPr>
          <a:xfrm>
            <a:off x="762000" y="2347384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02 · 核心功能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23" name="p-label">
            <a:extLst>
              <a:ext uri="{FF2B5EF4-FFF2-40B4-BE49-F238E27FC236}">
                <a16:creationId xmlns:a16="http://schemas.microsoft.com/office/drawing/2014/main" id="{56E3BA77-B145-3D70-DF6C-53A3307FA19D}"/>
              </a:ext>
            </a:extLst>
          </p:cNvPr>
          <p:cNvSpPr txBox="1"/>
          <p:nvPr/>
        </p:nvSpPr>
        <p:spPr>
          <a:xfrm>
            <a:off x="762000" y="2849639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03 · 技术方案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25" name="p-label">
            <a:extLst>
              <a:ext uri="{FF2B5EF4-FFF2-40B4-BE49-F238E27FC236}">
                <a16:creationId xmlns:a16="http://schemas.microsoft.com/office/drawing/2014/main" id="{F9C2D95A-1C62-AF9B-C4F4-ED25EC7E3EBC}"/>
              </a:ext>
            </a:extLst>
          </p:cNvPr>
          <p:cNvSpPr txBox="1"/>
          <p:nvPr/>
        </p:nvSpPr>
        <p:spPr>
          <a:xfrm>
            <a:off x="762000" y="3351894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04 · 可行性分析（初稿）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27" name="p-label">
            <a:extLst>
              <a:ext uri="{FF2B5EF4-FFF2-40B4-BE49-F238E27FC236}">
                <a16:creationId xmlns:a16="http://schemas.microsoft.com/office/drawing/2014/main" id="{68D45833-0AA5-5098-AA55-64A49C1A4578}"/>
              </a:ext>
            </a:extLst>
          </p:cNvPr>
          <p:cNvSpPr txBox="1"/>
          <p:nvPr/>
        </p:nvSpPr>
        <p:spPr>
          <a:xfrm>
            <a:off x="762000" y="3854149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05 · 项目计划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29" name="p-label">
            <a:extLst>
              <a:ext uri="{FF2B5EF4-FFF2-40B4-BE49-F238E27FC236}">
                <a16:creationId xmlns:a16="http://schemas.microsoft.com/office/drawing/2014/main" id="{7E2FEE44-6172-8C5B-5AB2-E5BFC770562E}"/>
              </a:ext>
            </a:extLst>
          </p:cNvPr>
          <p:cNvSpPr txBox="1"/>
          <p:nvPr/>
        </p:nvSpPr>
        <p:spPr>
          <a:xfrm>
            <a:off x="762000" y="4356404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06 · 计划保障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31" name="p-label">
            <a:extLst>
              <a:ext uri="{FF2B5EF4-FFF2-40B4-BE49-F238E27FC236}">
                <a16:creationId xmlns:a16="http://schemas.microsoft.com/office/drawing/2014/main" id="{647D29AF-2A93-2486-06EC-92595BF908ED}"/>
              </a:ext>
            </a:extLst>
          </p:cNvPr>
          <p:cNvSpPr txBox="1"/>
          <p:nvPr/>
        </p:nvSpPr>
        <p:spPr>
          <a:xfrm>
            <a:off x="762000" y="485866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200" normalizeH="0" baseline="0" noProof="1">
                <a:ln>
                  <a:noFill/>
                </a:ln>
                <a:solidFill>
                  <a:srgbClr val="C2863A"/>
                </a:solidFill>
                <a:effectLst/>
                <a:uLnTx/>
                <a:uFillTx/>
                <a:latin typeface="MiSans"/>
                <a:ea typeface="MiSans"/>
                <a:cs typeface="MiSans"/>
              </a:rPr>
              <a:t>07 · 组员分工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  <a:ea typeface="MiSans"/>
              <a:cs typeface="Mi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2000" y="5360915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2863A"/>
                </a:solidFill>
                <a:latin typeface="MiSans"/>
              </a:rPr>
              <a:t>08 · 团队会议纪要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586317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2863A"/>
                </a:solidFill>
                <a:latin typeface="MiSans"/>
              </a:rPr>
              <a:t>09 · 组员评价</a:t>
            </a:r>
          </a:p>
        </p:txBody>
      </p:sp>
    </p:spTree>
    <p:extLst>
      <p:ext uri="{BB962C8B-B14F-4D97-AF65-F5344CB8AC3E}">
        <p14:creationId xmlns:p14="http://schemas.microsoft.com/office/powerpoint/2010/main" val="86037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01 · 项目总目标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一个悬浮工具条，管好大学生活的五件事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goal-label"/>
          <p:cNvSpPr txBox="1"/>
          <p:nvPr/>
        </p:nvSpPr>
        <p:spPr>
          <a:xfrm>
            <a:off x="762000" y="1981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总目标</a:t>
            </a:r>
            <a:endParaRPr lang="en-US" sz="1500" noProof="1"/>
          </a:p>
        </p:txBody>
      </p:sp>
      <p:sp>
        <p:nvSpPr>
          <p:cNvPr id="6" name="goal-body"/>
          <p:cNvSpPr txBox="1"/>
          <p:nvPr/>
        </p:nvSpPr>
        <p:spPr>
          <a:xfrm>
            <a:off x="762000" y="2387600"/>
            <a:ext cx="635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700" noProof="1">
                <a:solidFill>
                  <a:srgbClr val="2B2B28"/>
                </a:solidFill>
                <a:latin typeface="MiSans"/>
                <a:ea typeface="MiSans"/>
              </a:rPr>
              <a:t>面向在校大学生的 Windows 悬浮效率工具：以剪贴板历史、任务清单、文件检索、课表、消息提醒窗五大功能模块，覆盖高频操作与校园场景，全部数据本地存储、不上传网络。</a:t>
            </a:r>
            <a:endParaRPr lang="en-US" sz="1700" noProof="1"/>
          </a:p>
        </p:txBody>
      </p:sp>
      <p:sp>
        <p:nvSpPr>
          <p:cNvPr id="7" name="v-rule"/>
          <p:cNvSpPr/>
          <p:nvPr/>
        </p:nvSpPr>
        <p:spPr>
          <a:xfrm>
            <a:off x="7620000" y="1981200"/>
            <a:ext cx="12700" cy="39370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8" name="g1"/>
          <p:cNvSpPr txBox="1"/>
          <p:nvPr/>
        </p:nvSpPr>
        <p:spPr>
          <a:xfrm>
            <a:off x="8128000" y="19812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功能目标</a:t>
            </a:r>
            <a:endParaRPr lang="en-US" sz="1500" noProof="1"/>
          </a:p>
        </p:txBody>
      </p:sp>
      <p:sp>
        <p:nvSpPr>
          <p:cNvPr id="9" name="g1d"/>
          <p:cNvSpPr txBox="1"/>
          <p:nvPr/>
        </p:nvSpPr>
        <p:spPr>
          <a:xfrm>
            <a:off x="8128000" y="2311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五大功能模块稳定可用，覆盖大学生日常场景</a:t>
            </a:r>
            <a:endParaRPr lang="en-US" sz="1300" noProof="1"/>
          </a:p>
        </p:txBody>
      </p:sp>
      <p:sp>
        <p:nvSpPr>
          <p:cNvPr id="10" name="g2"/>
          <p:cNvSpPr txBox="1"/>
          <p:nvPr/>
        </p:nvSpPr>
        <p:spPr>
          <a:xfrm>
            <a:off x="8128000" y="29718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质量目标</a:t>
            </a:r>
            <a:endParaRPr lang="en-US" sz="1500" noProof="1"/>
          </a:p>
        </p:txBody>
      </p:sp>
      <p:sp>
        <p:nvSpPr>
          <p:cNvPr id="11" name="g2d"/>
          <p:cNvSpPr txBox="1"/>
          <p:nvPr/>
        </p:nvSpPr>
        <p:spPr>
          <a:xfrm>
            <a:off x="8128000" y="3302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界面简洁、响应及时、资源占用低，常驻不打扰</a:t>
            </a:r>
            <a:endParaRPr lang="en-US" sz="1300" noProof="1"/>
          </a:p>
        </p:txBody>
      </p:sp>
      <p:sp>
        <p:nvSpPr>
          <p:cNvPr id="12" name="g3"/>
          <p:cNvSpPr txBox="1"/>
          <p:nvPr/>
        </p:nvSpPr>
        <p:spPr>
          <a:xfrm>
            <a:off x="8128000" y="3962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隐私目标</a:t>
            </a:r>
            <a:endParaRPr lang="en-US" sz="1500" noProof="1"/>
          </a:p>
        </p:txBody>
      </p:sp>
      <p:sp>
        <p:nvSpPr>
          <p:cNvPr id="13" name="g3d"/>
          <p:cNvSpPr txBox="1"/>
          <p:nvPr/>
        </p:nvSpPr>
        <p:spPr>
          <a:xfrm>
            <a:off x="8128000" y="42926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剪贴板、任务、课表数据全部本地 SQLite 保存</a:t>
            </a:r>
            <a:endParaRPr lang="en-US" sz="1300" noProof="1"/>
          </a:p>
        </p:txBody>
      </p:sp>
      <p:sp>
        <p:nvSpPr>
          <p:cNvPr id="14" name="g4"/>
          <p:cNvSpPr txBox="1"/>
          <p:nvPr/>
        </p:nvSpPr>
        <p:spPr>
          <a:xfrm>
            <a:off x="8128000" y="4953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过程目标</a:t>
            </a:r>
            <a:endParaRPr lang="en-US" sz="1500" noProof="1"/>
          </a:p>
        </p:txBody>
      </p:sp>
      <p:sp>
        <p:nvSpPr>
          <p:cNvPr id="15" name="g4d"/>
          <p:cNvSpPr txBox="1"/>
          <p:nvPr/>
        </p:nvSpPr>
        <p:spPr>
          <a:xfrm>
            <a:off x="8128000" y="52832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按软件工程流程交付需求、设计、测试与项目报告</a:t>
            </a:r>
            <a:endParaRPr lang="en-US" sz="1300" noProof="1"/>
          </a:p>
        </p:txBody>
      </p:sp>
      <p:sp>
        <p:nvSpPr>
          <p:cNvPr id="16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02 · 核心功能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五大功能模块：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m1-num"/>
          <p:cNvSpPr txBox="1"/>
          <p:nvPr/>
        </p:nvSpPr>
        <p:spPr>
          <a:xfrm>
            <a:off x="762000" y="1879600"/>
            <a:ext cx="66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2863A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6" name="m1-name"/>
          <p:cNvSpPr txBox="1"/>
          <p:nvPr/>
        </p:nvSpPr>
        <p:spPr>
          <a:xfrm>
            <a:off x="1498600" y="1905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B2B28"/>
                </a:solidFill>
                <a:latin typeface="MiSans"/>
                <a:ea typeface="MiSans"/>
              </a:rPr>
              <a:t>剪贴板历史记录</a:t>
            </a:r>
            <a:endParaRPr lang="en-US" sz="1700" noProof="1"/>
          </a:p>
        </p:txBody>
      </p:sp>
      <p:sp>
        <p:nvSpPr>
          <p:cNvPr id="7" name="m1-body"/>
          <p:cNvSpPr txBox="1"/>
          <p:nvPr/>
        </p:nvSpPr>
        <p:spPr>
          <a:xfrm>
            <a:off x="4064000" y="1879600"/>
            <a:ext cx="736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B2B28"/>
                </a:solidFill>
                <a:latin typeface="MiSans"/>
                <a:ea typeface="MiSans"/>
              </a:rPr>
              <a:t>后台监听自动保存文本剪贴；列表展示、关键词搜索、点击一键粘贴；常用文本收藏、过期记录自动清理。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8A877E"/>
                </a:solidFill>
                <a:latin typeface="MiSans"/>
                <a:ea typeface="MiSans"/>
              </a:rPr>
              <a:t>约束：仅处理文本剪贴内容；本地 SQLite 保存，不上传网络。</a:t>
            </a:r>
            <a:endParaRPr lang="en-US" sz="1600" noProof="1"/>
          </a:p>
        </p:txBody>
      </p:sp>
      <p:sp>
        <p:nvSpPr>
          <p:cNvPr id="8" name="div1"/>
          <p:cNvSpPr/>
          <p:nvPr/>
        </p:nvSpPr>
        <p:spPr>
          <a:xfrm>
            <a:off x="762000" y="27178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9" name="m2-num"/>
          <p:cNvSpPr txBox="1"/>
          <p:nvPr/>
        </p:nvSpPr>
        <p:spPr>
          <a:xfrm>
            <a:off x="762000" y="2870200"/>
            <a:ext cx="66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2863A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10" name="m2-name"/>
          <p:cNvSpPr txBox="1"/>
          <p:nvPr/>
        </p:nvSpPr>
        <p:spPr>
          <a:xfrm>
            <a:off x="1498600" y="28956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B2B28"/>
                </a:solidFill>
                <a:latin typeface="MiSans"/>
                <a:ea typeface="MiSans"/>
              </a:rPr>
              <a:t>任务清单</a:t>
            </a:r>
            <a:endParaRPr lang="en-US" sz="1700" noProof="1"/>
          </a:p>
        </p:txBody>
      </p:sp>
      <p:sp>
        <p:nvSpPr>
          <p:cNvPr id="11" name="m2-body"/>
          <p:cNvSpPr txBox="1"/>
          <p:nvPr/>
        </p:nvSpPr>
        <p:spPr>
          <a:xfrm>
            <a:off x="4064000" y="2870200"/>
            <a:ext cx="736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B2B28"/>
                </a:solidFill>
                <a:latin typeface="MiSans"/>
                <a:ea typeface="MiSans"/>
              </a:rPr>
              <a:t>新建、编辑、勾选完成与删除待办任务；支持按完成状态查看任务。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8A877E"/>
                </a:solidFill>
                <a:latin typeface="MiSans"/>
                <a:ea typeface="MiSans"/>
              </a:rPr>
              <a:t>与提醒窗联动：设置截止时间后，到点自动弹窗提示。</a:t>
            </a:r>
            <a:endParaRPr lang="en-US" sz="1600" noProof="1"/>
          </a:p>
        </p:txBody>
      </p:sp>
      <p:sp>
        <p:nvSpPr>
          <p:cNvPr id="12" name="div2"/>
          <p:cNvSpPr/>
          <p:nvPr/>
        </p:nvSpPr>
        <p:spPr>
          <a:xfrm>
            <a:off x="762000" y="37084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3" name="m3-num"/>
          <p:cNvSpPr txBox="1"/>
          <p:nvPr/>
        </p:nvSpPr>
        <p:spPr>
          <a:xfrm>
            <a:off x="762000" y="3860800"/>
            <a:ext cx="66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2863A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4" name="m3-name"/>
          <p:cNvSpPr txBox="1"/>
          <p:nvPr/>
        </p:nvSpPr>
        <p:spPr>
          <a:xfrm>
            <a:off x="1498600" y="38862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B2B28"/>
                </a:solidFill>
                <a:latin typeface="MiSans"/>
                <a:ea typeface="MiSans"/>
              </a:rPr>
              <a:t>文件快速检索</a:t>
            </a:r>
            <a:endParaRPr lang="en-US" sz="1700" noProof="1"/>
          </a:p>
        </p:txBody>
      </p:sp>
      <p:sp>
        <p:nvSpPr>
          <p:cNvPr id="15" name="m3-body"/>
          <p:cNvSpPr txBox="1"/>
          <p:nvPr/>
        </p:nvSpPr>
        <p:spPr>
          <a:xfrm>
            <a:off x="4064000" y="3860800"/>
            <a:ext cx="736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B2B28"/>
                </a:solidFill>
                <a:latin typeface="MiSans"/>
                <a:ea typeface="MiSans"/>
              </a:rPr>
              <a:t>指定目录建立简易本地文件索引；按文件后缀、修改时间筛选；一键打开文件或所在文件夹。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8A877E"/>
                </a:solidFill>
                <a:latin typeface="MiSans"/>
                <a:ea typeface="MiSans"/>
              </a:rPr>
              <a:t>约束：手动刷新索引，不做实时后台索引，降低 CPU 占用。</a:t>
            </a:r>
            <a:endParaRPr lang="en-US" sz="1600" noProof="1"/>
          </a:p>
        </p:txBody>
      </p:sp>
      <p:sp>
        <p:nvSpPr>
          <p:cNvPr id="16" name="div3"/>
          <p:cNvSpPr/>
          <p:nvPr/>
        </p:nvSpPr>
        <p:spPr>
          <a:xfrm>
            <a:off x="762000" y="46990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7" name="m4-num"/>
          <p:cNvSpPr txBox="1"/>
          <p:nvPr/>
        </p:nvSpPr>
        <p:spPr>
          <a:xfrm>
            <a:off x="762000" y="4851400"/>
            <a:ext cx="66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2863A"/>
                </a:solidFill>
                <a:latin typeface="MiSans"/>
                <a:ea typeface="MiSans"/>
              </a:rPr>
              <a:t>04</a:t>
            </a:r>
            <a:endParaRPr lang="en-US" sz="2200" noProof="1"/>
          </a:p>
        </p:txBody>
      </p:sp>
      <p:sp>
        <p:nvSpPr>
          <p:cNvPr id="18" name="m4-name"/>
          <p:cNvSpPr txBox="1"/>
          <p:nvPr/>
        </p:nvSpPr>
        <p:spPr>
          <a:xfrm>
            <a:off x="1498600" y="48768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B2B28"/>
                </a:solidFill>
                <a:latin typeface="MiSans"/>
                <a:ea typeface="MiSans"/>
              </a:rPr>
              <a:t>课表</a:t>
            </a:r>
            <a:endParaRPr lang="en-US" sz="1700" noProof="1"/>
          </a:p>
        </p:txBody>
      </p:sp>
      <p:sp>
        <p:nvSpPr>
          <p:cNvPr id="19" name="m4-body"/>
          <p:cNvSpPr txBox="1"/>
          <p:nvPr/>
        </p:nvSpPr>
        <p:spPr>
          <a:xfrm>
            <a:off x="4064000" y="4851400"/>
            <a:ext cx="736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B2B28"/>
                </a:solidFill>
                <a:latin typeface="MiSans"/>
                <a:ea typeface="MiSans"/>
              </a:rPr>
              <a:t>周视图管理课程：课程名称、时间、地点，支持单双周设置；支持从教务系统导出的 Excel 课表文件一键导入。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8A877E"/>
                </a:solidFill>
                <a:latin typeface="MiSans"/>
                <a:ea typeface="MiSans"/>
              </a:rPr>
              <a:t>约束：手工录入 + 文件导入双通道，不接入教务系统账号。</a:t>
            </a:r>
            <a:endParaRPr lang="en-US" sz="1600" noProof="1"/>
          </a:p>
        </p:txBody>
      </p:sp>
      <p:sp>
        <p:nvSpPr>
          <p:cNvPr id="20" name="div4"/>
          <p:cNvSpPr/>
          <p:nvPr/>
        </p:nvSpPr>
        <p:spPr>
          <a:xfrm>
            <a:off x="762000" y="5689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21" name="m5-num"/>
          <p:cNvSpPr txBox="1"/>
          <p:nvPr/>
        </p:nvSpPr>
        <p:spPr>
          <a:xfrm>
            <a:off x="762000" y="5842000"/>
            <a:ext cx="660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2863A"/>
                </a:solidFill>
                <a:latin typeface="MiSans"/>
                <a:ea typeface="MiSans"/>
              </a:rPr>
              <a:t>05</a:t>
            </a:r>
            <a:endParaRPr lang="en-US" sz="2200" noProof="1"/>
          </a:p>
        </p:txBody>
      </p:sp>
      <p:sp>
        <p:nvSpPr>
          <p:cNvPr id="22" name="m5-name"/>
          <p:cNvSpPr txBox="1"/>
          <p:nvPr/>
        </p:nvSpPr>
        <p:spPr>
          <a:xfrm>
            <a:off x="1498600" y="5867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B2B28"/>
                </a:solidFill>
                <a:latin typeface="MiSans"/>
                <a:ea typeface="MiSans"/>
              </a:rPr>
              <a:t>消息提醒窗</a:t>
            </a:r>
            <a:endParaRPr lang="en-US" sz="1700" noProof="1"/>
          </a:p>
        </p:txBody>
      </p:sp>
      <p:sp>
        <p:nvSpPr>
          <p:cNvPr id="23" name="m5-body"/>
          <p:cNvSpPr txBox="1"/>
          <p:nvPr/>
        </p:nvSpPr>
        <p:spPr>
          <a:xfrm>
            <a:off x="4064000" y="5842000"/>
            <a:ext cx="736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B2B28"/>
                </a:solidFill>
                <a:latin typeface="MiSans"/>
                <a:ea typeface="MiSans"/>
              </a:rPr>
              <a:t>定时扫描本地课表与任务清单数据，到点弹出无边框置顶提醒窗：上下课提醒、作业截止提醒。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8A877E"/>
                </a:solidFill>
                <a:latin typeface="MiSans"/>
                <a:ea typeface="MiSans"/>
              </a:rPr>
              <a:t>约束：仅本地数据驱动，不接入外部消息源，不联网。</a:t>
            </a:r>
            <a:endParaRPr lang="en-US" sz="1600" noProof="1"/>
          </a:p>
        </p:txBody>
      </p:sp>
      <p:sp>
        <p:nvSpPr>
          <p:cNvPr id="24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03 · 技术方案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轻量本地技术栈：Python + Qt + SQLite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t1"/>
          <p:cNvSpPr txBox="1"/>
          <p:nvPr/>
        </p:nvSpPr>
        <p:spPr>
          <a:xfrm>
            <a:off x="762000" y="1930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开发语言 —— Python</a:t>
            </a:r>
            <a:endParaRPr lang="en-US" sz="1600" noProof="1"/>
          </a:p>
        </p:txBody>
      </p:sp>
      <p:sp>
        <p:nvSpPr>
          <p:cNvPr id="6" name="t1d"/>
          <p:cNvSpPr txBox="1"/>
          <p:nvPr/>
        </p:nvSpPr>
        <p:spPr>
          <a:xfrm>
            <a:off x="762000" y="2286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生态成熟，桌面 GUI 开发效率高</a:t>
            </a:r>
            <a:endParaRPr lang="en-US" sz="1300" noProof="1"/>
          </a:p>
        </p:txBody>
      </p:sp>
      <p:sp>
        <p:nvSpPr>
          <p:cNvPr id="7" name="t2"/>
          <p:cNvSpPr txBox="1"/>
          <p:nvPr/>
        </p:nvSpPr>
        <p:spPr>
          <a:xfrm>
            <a:off x="762000" y="2743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界面框架 —— PyQt5 / PySide6</a:t>
            </a:r>
            <a:endParaRPr lang="en-US" sz="1600" noProof="1"/>
          </a:p>
        </p:txBody>
      </p:sp>
      <p:sp>
        <p:nvSpPr>
          <p:cNvPr id="8" name="t2d"/>
          <p:cNvSpPr txBox="1"/>
          <p:nvPr/>
        </p:nvSpPr>
        <p:spPr>
          <a:xfrm>
            <a:off x="762000" y="309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悬浮窗、置顶、拖拽与面板弹出的成熟支持</a:t>
            </a:r>
            <a:endParaRPr lang="en-US" sz="1300" noProof="1"/>
          </a:p>
        </p:txBody>
      </p:sp>
      <p:sp>
        <p:nvSpPr>
          <p:cNvPr id="9" name="t3"/>
          <p:cNvSpPr txBox="1"/>
          <p:nvPr/>
        </p:nvSpPr>
        <p:spPr>
          <a:xfrm>
            <a:off x="762000" y="3556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数据存储 —— SQLite</a:t>
            </a:r>
            <a:endParaRPr lang="en-US" sz="1600" noProof="1"/>
          </a:p>
        </p:txBody>
      </p:sp>
      <p:sp>
        <p:nvSpPr>
          <p:cNvPr id="10" name="t3d"/>
          <p:cNvSpPr txBox="1"/>
          <p:nvPr/>
        </p:nvSpPr>
        <p:spPr>
          <a:xfrm>
            <a:off x="762000" y="3911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嵌入式零配置，本地单文件即数据库，隐私友好</a:t>
            </a:r>
            <a:endParaRPr lang="en-US" sz="1300" noProof="1"/>
          </a:p>
        </p:txBody>
      </p:sp>
      <p:sp>
        <p:nvSpPr>
          <p:cNvPr id="11" name="t4"/>
          <p:cNvSpPr txBox="1"/>
          <p:nvPr/>
        </p:nvSpPr>
        <p:spPr>
          <a:xfrm>
            <a:off x="762000" y="4368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运行平台 —— Windows</a:t>
            </a:r>
            <a:endParaRPr lang="en-US" sz="1600" noProof="1"/>
          </a:p>
        </p:txBody>
      </p:sp>
      <p:sp>
        <p:nvSpPr>
          <p:cNvPr id="12" name="t4d"/>
          <p:cNvSpPr txBox="1"/>
          <p:nvPr/>
        </p:nvSpPr>
        <p:spPr>
          <a:xfrm>
            <a:off x="762000" y="4724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打包为桌面可执行程序，具体方案开发阶段确定</a:t>
            </a:r>
            <a:endParaRPr lang="en-US" sz="1300" noProof="1"/>
          </a:p>
        </p:txBody>
      </p:sp>
      <p:sp>
        <p:nvSpPr>
          <p:cNvPr id="13" name="v-rule"/>
          <p:cNvSpPr/>
          <p:nvPr/>
        </p:nvSpPr>
        <p:spPr>
          <a:xfrm>
            <a:off x="5969000" y="1930400"/>
            <a:ext cx="12700" cy="35560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4" name="box-top"/>
          <p:cNvSpPr/>
          <p:nvPr/>
        </p:nvSpPr>
        <p:spPr>
          <a:xfrm>
            <a:off x="7493000" y="1930400"/>
            <a:ext cx="3048000" cy="558800"/>
          </a:xfrm>
          <a:prstGeom prst="rect">
            <a:avLst/>
          </a:prstGeom>
          <a:solidFill>
            <a:srgbClr val="355C52"/>
          </a:solidFill>
          <a:ln>
            <a:noFill/>
          </a:ln>
        </p:spPr>
      </p:sp>
      <p:sp>
        <p:nvSpPr>
          <p:cNvPr id="15" name="box-top-t"/>
          <p:cNvSpPr txBox="1"/>
          <p:nvPr/>
        </p:nvSpPr>
        <p:spPr>
          <a:xfrm>
            <a:off x="7493000" y="1930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/>
                <a:ea typeface="MiSans"/>
              </a:rPr>
              <a:t>悬浮工具条（主窗体）</a:t>
            </a:r>
            <a:endParaRPr lang="en-US" sz="1500" noProof="1"/>
          </a:p>
        </p:txBody>
      </p:sp>
      <p:sp>
        <p:nvSpPr>
          <p:cNvPr id="16" name="box-m1"/>
          <p:cNvSpPr/>
          <p:nvPr/>
        </p:nvSpPr>
        <p:spPr>
          <a:xfrm>
            <a:off x="6350000" y="3200400"/>
            <a:ext cx="965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17" name="box-m1-t"/>
          <p:cNvSpPr txBox="1"/>
          <p:nvPr/>
        </p:nvSpPr>
        <p:spPr>
          <a:xfrm>
            <a:off x="6350000" y="32004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剪贴板</a:t>
            </a:r>
            <a:endParaRPr lang="en-US" sz="1200" noProof="1"/>
          </a:p>
        </p:txBody>
      </p:sp>
      <p:sp>
        <p:nvSpPr>
          <p:cNvPr id="18" name="box-m2"/>
          <p:cNvSpPr/>
          <p:nvPr/>
        </p:nvSpPr>
        <p:spPr>
          <a:xfrm>
            <a:off x="7416800" y="3200400"/>
            <a:ext cx="965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19" name="box-m2-t"/>
          <p:cNvSpPr txBox="1"/>
          <p:nvPr/>
        </p:nvSpPr>
        <p:spPr>
          <a:xfrm>
            <a:off x="7416800" y="32004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任务清单</a:t>
            </a:r>
            <a:endParaRPr lang="en-US" sz="1200" noProof="1"/>
          </a:p>
        </p:txBody>
      </p:sp>
      <p:sp>
        <p:nvSpPr>
          <p:cNvPr id="20" name="box-m3"/>
          <p:cNvSpPr/>
          <p:nvPr/>
        </p:nvSpPr>
        <p:spPr>
          <a:xfrm>
            <a:off x="8483600" y="3200400"/>
            <a:ext cx="965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21" name="box-m3-t"/>
          <p:cNvSpPr txBox="1"/>
          <p:nvPr/>
        </p:nvSpPr>
        <p:spPr>
          <a:xfrm>
            <a:off x="8483600" y="32004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文件检索</a:t>
            </a:r>
            <a:endParaRPr lang="en-US" sz="1200" noProof="1"/>
          </a:p>
        </p:txBody>
      </p:sp>
      <p:sp>
        <p:nvSpPr>
          <p:cNvPr id="22" name="box-m4"/>
          <p:cNvSpPr/>
          <p:nvPr/>
        </p:nvSpPr>
        <p:spPr>
          <a:xfrm>
            <a:off x="9550400" y="3200400"/>
            <a:ext cx="965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23" name="box-m4-t"/>
          <p:cNvSpPr txBox="1"/>
          <p:nvPr/>
        </p:nvSpPr>
        <p:spPr>
          <a:xfrm>
            <a:off x="9550400" y="32004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课表</a:t>
            </a:r>
            <a:endParaRPr lang="en-US" sz="1200" noProof="1"/>
          </a:p>
        </p:txBody>
      </p:sp>
      <p:sp>
        <p:nvSpPr>
          <p:cNvPr id="24" name="box-m5"/>
          <p:cNvSpPr/>
          <p:nvPr/>
        </p:nvSpPr>
        <p:spPr>
          <a:xfrm>
            <a:off x="10617200" y="3200400"/>
            <a:ext cx="965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25" name="box-m5-t"/>
          <p:cNvSpPr txBox="1"/>
          <p:nvPr/>
        </p:nvSpPr>
        <p:spPr>
          <a:xfrm>
            <a:off x="10617200" y="32004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提醒窗</a:t>
            </a:r>
            <a:endParaRPr lang="en-US" sz="1200" noProof="1"/>
          </a:p>
        </p:txBody>
      </p:sp>
      <p:sp>
        <p:nvSpPr>
          <p:cNvPr id="26" name="box-db"/>
          <p:cNvSpPr/>
          <p:nvPr/>
        </p:nvSpPr>
        <p:spPr>
          <a:xfrm>
            <a:off x="7493000" y="4572000"/>
            <a:ext cx="304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C52"/>
            </a:solidFill>
          </a:ln>
        </p:spPr>
      </p:sp>
      <p:sp>
        <p:nvSpPr>
          <p:cNvPr id="27" name="box-db-t"/>
          <p:cNvSpPr txBox="1"/>
          <p:nvPr/>
        </p:nvSpPr>
        <p:spPr>
          <a:xfrm>
            <a:off x="7493000" y="45720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SQLite 本地数据库</a:t>
            </a:r>
            <a:endParaRPr lang="en-US" sz="1500" noProof="1"/>
          </a:p>
        </p:txBody>
      </p:sp>
      <p:sp>
        <p:nvSpPr>
          <p:cNvPr id="28" name="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eyJ2aWV3Qm94IjpbMTcyLDU2XSwicG9pbnRzIjoiMTcyLDAgMCw1NiIsImN1cnZlIjoic2hhcnAifQ</pptd:line>
              </p:ext>
            </p:extLst>
          </p:nvPr>
        </p:nvSpPr>
        <p:spPr>
          <a:xfrm>
            <a:off x="6832600" y="2489200"/>
            <a:ext cx="2184400" cy="711200"/>
          </a:xfrm>
          <a:custGeom>
            <a:avLst/>
            <a:gdLst/>
            <a:ahLst/>
            <a:cxnLst/>
            <a:rect l="l" t="t" r="r" b="b"/>
            <a:pathLst>
              <a:path w="172" h="56">
                <a:moveTo>
                  <a:pt x="172" y="0"/>
                </a:moveTo>
                <a:lnTo>
                  <a:pt x="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29" name="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eyJ2aWV3Qm94IjpbODgsNTZdLCJwb2ludHMiOiI4OCwwIDAsNTYiLCJjdXJ2ZSI6InNoYXJwIn0</pptd:line>
              </p:ext>
            </p:extLst>
          </p:nvPr>
        </p:nvSpPr>
        <p:spPr>
          <a:xfrm>
            <a:off x="7899400" y="2489200"/>
            <a:ext cx="1117600" cy="711200"/>
          </a:xfrm>
          <a:custGeom>
            <a:avLst/>
            <a:gdLst/>
            <a:ahLst/>
            <a:cxnLst/>
            <a:rect l="l" t="t" r="r" b="b"/>
            <a:pathLst>
              <a:path w="88" h="56">
                <a:moveTo>
                  <a:pt x="88" y="0"/>
                </a:moveTo>
                <a:lnTo>
                  <a:pt x="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0" name="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eyJ2aWV3Qm94IjpbNCw1Nl0sInBvaW50cyI6IjQsMCAwLDU2IiwiY3VydmUiOiJzaGFycCJ9</pptd:line>
              </p:ext>
            </p:extLst>
          </p:nvPr>
        </p:nvSpPr>
        <p:spPr>
          <a:xfrm>
            <a:off x="8966200" y="24892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4" h="56">
                <a:moveTo>
                  <a:pt x="4" y="0"/>
                </a:moveTo>
                <a:lnTo>
                  <a:pt x="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1" name="a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eyJ2aWV3Qm94IjpbODAsNTZdLCJwb2ludHMiOiIwLDAgODAsNTYiLCJjdXJ2ZSI6InNoYXJwIn0</pptd:line>
              </p:ext>
            </p:extLst>
          </p:nvPr>
        </p:nvSpPr>
        <p:spPr>
          <a:xfrm>
            <a:off x="9017000" y="2489200"/>
            <a:ext cx="1016000" cy="711200"/>
          </a:xfrm>
          <a:custGeom>
            <a:avLst/>
            <a:gdLst/>
            <a:ahLst/>
            <a:cxnLst/>
            <a:rect l="l" t="t" r="r" b="b"/>
            <a:pathLst>
              <a:path w="80" h="56">
                <a:moveTo>
                  <a:pt x="0" y="0"/>
                </a:moveTo>
                <a:lnTo>
                  <a:pt x="8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2" name="a5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eyJ2aWV3Qm94IjpbMTY0LDU2XSwicG9pbnRzIjoiMCwwIDE2NCw1NiIsImN1cnZlIjoic2hhcnAifQ</pptd:line>
              </p:ext>
            </p:extLst>
          </p:nvPr>
        </p:nvSpPr>
        <p:spPr>
          <a:xfrm>
            <a:off x="9017000" y="2489200"/>
            <a:ext cx="2082800" cy="711200"/>
          </a:xfrm>
          <a:custGeom>
            <a:avLst/>
            <a:gdLst/>
            <a:ahLst/>
            <a:cxnLst/>
            <a:rect l="l" t="t" r="r" b="b"/>
            <a:pathLst>
              <a:path w="164" h="56">
                <a:moveTo>
                  <a:pt x="0" y="0"/>
                </a:moveTo>
                <a:lnTo>
                  <a:pt x="164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3" name="a6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eyJ2aWV3Qm94IjpbMTcyLDU2XSwicG9pbnRzIjoiMCwwIDE3Miw1NiIsImN1cnZlIjoic2hhcnAifQ</pptd:line>
              </p:ext>
            </p:extLst>
          </p:nvPr>
        </p:nvSpPr>
        <p:spPr>
          <a:xfrm>
            <a:off x="6832600" y="3860800"/>
            <a:ext cx="2184400" cy="711200"/>
          </a:xfrm>
          <a:custGeom>
            <a:avLst/>
            <a:gdLst/>
            <a:ahLst/>
            <a:cxnLst/>
            <a:rect l="l" t="t" r="r" b="b"/>
            <a:pathLst>
              <a:path w="172" h="56">
                <a:moveTo>
                  <a:pt x="0" y="0"/>
                </a:moveTo>
                <a:lnTo>
                  <a:pt x="172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4" name="a7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eyJ2aWV3Qm94IjpbODgsNTZdLCJwb2ludHMiOiIwLDAgODgsNTYiLCJjdXJ2ZSI6InNoYXJwIn0</pptd:line>
              </p:ext>
            </p:extLst>
          </p:nvPr>
        </p:nvSpPr>
        <p:spPr>
          <a:xfrm>
            <a:off x="7899400" y="3860800"/>
            <a:ext cx="1117600" cy="711200"/>
          </a:xfrm>
          <a:custGeom>
            <a:avLst/>
            <a:gdLst/>
            <a:ahLst/>
            <a:cxnLst/>
            <a:rect l="l" t="t" r="r" b="b"/>
            <a:pathLst>
              <a:path w="88" h="56">
                <a:moveTo>
                  <a:pt x="0" y="0"/>
                </a:moveTo>
                <a:lnTo>
                  <a:pt x="88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5" name="a8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eyJ2aWV3Qm94IjpbNCw1Nl0sInBvaW50cyI6IjAsMCA0LDU2IiwiY3VydmUiOiJzaGFycCJ9</pptd:line>
              </p:ext>
            </p:extLst>
          </p:nvPr>
        </p:nvSpPr>
        <p:spPr>
          <a:xfrm>
            <a:off x="8966200" y="3860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4" h="56">
                <a:moveTo>
                  <a:pt x="0" y="0"/>
                </a:moveTo>
                <a:lnTo>
                  <a:pt x="4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6" name="a9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eyJ2aWV3Qm94IjpbODAsNTZdLCJwb2ludHMiOiI4MCwwIDAsNTYiLCJjdXJ2ZSI6InNoYXJwIn0</pptd:line>
              </p:ext>
            </p:extLst>
          </p:nvPr>
        </p:nvSpPr>
        <p:spPr>
          <a:xfrm>
            <a:off x="9017000" y="3860800"/>
            <a:ext cx="1016000" cy="711200"/>
          </a:xfrm>
          <a:custGeom>
            <a:avLst/>
            <a:gdLst/>
            <a:ahLst/>
            <a:cxnLst/>
            <a:rect l="l" t="t" r="r" b="b"/>
            <a:pathLst>
              <a:path w="80" h="56">
                <a:moveTo>
                  <a:pt x="80" y="0"/>
                </a:moveTo>
                <a:lnTo>
                  <a:pt x="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7" name="a10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eyJ2aWV3Qm94IjpbMTY0LDU2XSwicG9pbnRzIjoiMTY0LDAgMCw1NiIsImN1cnZlIjoic2hhcnAifQ</pptd:line>
              </p:ext>
            </p:extLst>
          </p:nvPr>
        </p:nvSpPr>
        <p:spPr>
          <a:xfrm>
            <a:off x="9017000" y="3860800"/>
            <a:ext cx="2082800" cy="711200"/>
          </a:xfrm>
          <a:custGeom>
            <a:avLst/>
            <a:gdLst/>
            <a:ahLst/>
            <a:cxnLst/>
            <a:rect l="l" t="t" r="r" b="b"/>
            <a:pathLst>
              <a:path w="164" h="56">
                <a:moveTo>
                  <a:pt x="164" y="0"/>
                </a:moveTo>
                <a:lnTo>
                  <a:pt x="0" y="56"/>
                </a:lnTo>
              </a:path>
            </a:pathLst>
          </a:custGeom>
          <a:noFill/>
          <a:ln w="12700">
            <a:solidFill>
              <a:srgbClr val="8A877E"/>
            </a:solidFill>
            <a:tailEnd type="arrow"/>
          </a:ln>
        </p:spPr>
      </p:sp>
      <p:sp>
        <p:nvSpPr>
          <p:cNvPr id="38" name="caption"/>
          <p:cNvSpPr txBox="1"/>
          <p:nvPr/>
        </p:nvSpPr>
        <p:spPr>
          <a:xfrm>
            <a:off x="5842000" y="53848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图 1　系统总体结构（示意）</a:t>
            </a:r>
            <a:endParaRPr lang="en-US" sz="1100" noProof="1"/>
          </a:p>
        </p:txBody>
      </p:sp>
      <p:sp>
        <p:nvSpPr>
          <p:cNvPr id="39" name="ext-note"/>
          <p:cNvSpPr txBox="1"/>
          <p:nvPr/>
        </p:nvSpPr>
        <p:spPr>
          <a:xfrm>
            <a:off x="5842000" y="56896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A877E"/>
                </a:solidFill>
                <a:latin typeface="MiSans"/>
                <a:ea typeface="MiSans"/>
              </a:rPr>
              <a:t>五大功能模块均基于本地 SQLite 数据存储</a:t>
            </a:r>
            <a:endParaRPr lang="en-US" sz="1200" noProof="1"/>
          </a:p>
        </p:txBody>
      </p:sp>
      <p:sp>
        <p:nvSpPr>
          <p:cNvPr id="40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41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04 · 可行性分析（初稿）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关键技术成熟可控，本地实现可行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  <p:txBody>
          <a:bodyPr/>
          <a:p/>
        </p:txBody>
      </p:sp>
      <p:sp>
        <p:nvSpPr>
          <p:cNvPr id="5" name="tech-label"/>
          <p:cNvSpPr txBox="1"/>
          <p:nvPr/>
        </p:nvSpPr>
        <p:spPr>
          <a:xfrm>
            <a:off x="762000" y="193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技术可行性（关键技术分析）</a:t>
            </a:r>
            <a:endParaRPr lang="en-US" sz="1500" noProof="1"/>
          </a:p>
        </p:txBody>
      </p:sp>
      <p:sp>
        <p:nvSpPr>
          <p:cNvPr id="6" name="k1"/>
          <p:cNvSpPr txBox="1"/>
          <p:nvPr/>
        </p:nvSpPr>
        <p:spPr>
          <a:xfrm>
            <a:off x="762000" y="2413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剪贴板后台监听 —— QClipboard</a:t>
            </a:r>
            <a:endParaRPr lang="en-US" sz="1600" noProof="1"/>
          </a:p>
        </p:txBody>
      </p:sp>
      <p:sp>
        <p:nvSpPr>
          <p:cNvPr id="7" name="k1d"/>
          <p:cNvSpPr txBox="1"/>
          <p:nvPr/>
        </p:nvSpPr>
        <p:spPr>
          <a:xfrm>
            <a:off x="762000" y="2743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事件驱动捕获文本剪贴，官方接口稳定</a:t>
            </a:r>
            <a:endParaRPr lang="en-US" sz="1300" noProof="1"/>
          </a:p>
        </p:txBody>
      </p:sp>
      <p:sp>
        <p:nvSpPr>
          <p:cNvPr id="8" name="k2"/>
          <p:cNvSpPr txBox="1"/>
          <p:nvPr/>
        </p:nvSpPr>
        <p:spPr>
          <a:xfrm>
            <a:off x="762000" y="3175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无边框置顶悬浮窗 —— Qt 窗口标志</a:t>
            </a:r>
            <a:endParaRPr lang="en-US" sz="1600" noProof="1"/>
          </a:p>
        </p:txBody>
      </p:sp>
      <p:sp>
        <p:nvSpPr>
          <p:cNvPr id="9" name="k2d"/>
          <p:cNvSpPr txBox="1"/>
          <p:nvPr/>
        </p:nvSpPr>
        <p:spPr>
          <a:xfrm>
            <a:off x="762000" y="3505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Frameless + TopHint 成熟方案，拖拽与弹出支持好</a:t>
            </a:r>
            <a:endParaRPr lang="en-US" sz="1300" noProof="1"/>
          </a:p>
        </p:txBody>
      </p:sp>
      <p:sp>
        <p:nvSpPr>
          <p:cNvPr id="10" name="k3"/>
          <p:cNvSpPr txBox="1"/>
          <p:nvPr/>
        </p:nvSpPr>
        <p:spPr>
          <a:xfrm>
            <a:off x="762000" y="3937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本地数据存储 —— SQLite</a:t>
            </a:r>
            <a:endParaRPr lang="en-US" sz="1600" noProof="1"/>
          </a:p>
        </p:txBody>
      </p:sp>
      <p:sp>
        <p:nvSpPr>
          <p:cNvPr id="11" name="k3d"/>
          <p:cNvSpPr txBox="1"/>
          <p:nvPr/>
        </p:nvSpPr>
        <p:spPr>
          <a:xfrm>
            <a:off x="762000" y="4267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嵌入式单文件数据库，零配置、事务安全</a:t>
            </a:r>
            <a:endParaRPr lang="en-US" sz="1300" noProof="1"/>
          </a:p>
        </p:txBody>
      </p:sp>
      <p:sp>
        <p:nvSpPr>
          <p:cNvPr id="12" name="k4"/>
          <p:cNvSpPr txBox="1"/>
          <p:nvPr/>
        </p:nvSpPr>
        <p:spPr>
          <a:xfrm>
            <a:off x="762000" y="4699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Excel 课表导入 —— openpyxl</a:t>
            </a:r>
            <a:endParaRPr lang="en-US" sz="1600" noProof="1"/>
          </a:p>
        </p:txBody>
      </p:sp>
      <p:sp>
        <p:nvSpPr>
          <p:cNvPr id="13" name="k4d"/>
          <p:cNvSpPr txBox="1"/>
          <p:nvPr/>
        </p:nvSpPr>
        <p:spPr>
          <a:xfrm>
            <a:off x="762000" y="5029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解析教务系统导出文件，对格式差异做容错处理</a:t>
            </a:r>
            <a:endParaRPr lang="en-US" sz="1300" noProof="1"/>
          </a:p>
        </p:txBody>
      </p:sp>
      <p:sp>
        <p:nvSpPr>
          <p:cNvPr id="14" name="k5"/>
          <p:cNvSpPr txBox="1"/>
          <p:nvPr/>
        </p:nvSpPr>
        <p:spPr>
          <a:xfrm>
            <a:off x="762000" y="5461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B2B28"/>
                </a:solidFill>
                <a:latin typeface="MiSans"/>
                <a:ea typeface="MiSans"/>
              </a:rPr>
              <a:t>到点扫描提醒 —— QTimer 定时驱动</a:t>
            </a:r>
            <a:endParaRPr lang="en-US" sz="1600" noProof="1"/>
          </a:p>
        </p:txBody>
      </p:sp>
      <p:sp>
        <p:nvSpPr>
          <p:cNvPr id="15" name="k5d"/>
          <p:cNvSpPr txBox="1"/>
          <p:nvPr/>
        </p:nvSpPr>
        <p:spPr>
          <a:xfrm>
            <a:off x="762000" y="5791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扫描本地课表与任务数据，弹出无边框置顶提醒窗</a:t>
            </a:r>
            <a:endParaRPr lang="en-US" sz="1300" noProof="1"/>
          </a:p>
        </p:txBody>
      </p:sp>
      <p:sp>
        <p:nvSpPr>
          <p:cNvPr id="16" name="v-rule"/>
          <p:cNvSpPr/>
          <p:nvPr/>
        </p:nvSpPr>
        <p:spPr>
          <a:xfrm>
            <a:off x="6477000" y="1930400"/>
            <a:ext cx="12700" cy="3987800"/>
          </a:xfrm>
          <a:prstGeom prst="rect">
            <a:avLst/>
          </a:prstGeom>
          <a:solidFill>
            <a:srgbClr val="E3DED3"/>
          </a:solidFill>
          <a:ln>
            <a:noFill/>
          </a:ln>
        </p:spPr>
        <p:txBody>
          <a:bodyPr/>
          <a:p/>
        </p:txBody>
      </p:sp>
      <p:sp>
        <p:nvSpPr>
          <p:cNvPr id="17" name="e1"/>
          <p:cNvSpPr txBox="1"/>
          <p:nvPr/>
        </p:nvSpPr>
        <p:spPr>
          <a:xfrm>
            <a:off x="6985000" y="19304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经济可行性</a:t>
            </a:r>
            <a:endParaRPr lang="en-US" sz="1500" noProof="1"/>
          </a:p>
        </p:txBody>
      </p:sp>
      <p:sp>
        <p:nvSpPr>
          <p:cNvPr id="18" name="e1d"/>
          <p:cNvSpPr txBox="1"/>
          <p:nvPr/>
        </p:nvSpPr>
        <p:spPr>
          <a:xfrm>
            <a:off x="6985000" y="2260600"/>
            <a:ext cx="4445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全开源技术栈（Python / Qt / SQLite / PyInstaller），授权成本 0 元；个人 PC 即可开发与运行，无额外硬件投入。</a:t>
            </a:r>
            <a:endParaRPr lang="en-US" sz="1300" noProof="1"/>
          </a:p>
        </p:txBody>
      </p:sp>
      <p:sp>
        <p:nvSpPr>
          <p:cNvPr id="19" name="e2"/>
          <p:cNvSpPr txBox="1"/>
          <p:nvPr/>
        </p:nvSpPr>
        <p:spPr>
          <a:xfrm>
            <a:off x="6985000" y="32258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操作可行性</a:t>
            </a:r>
            <a:endParaRPr lang="en-US" sz="1500" noProof="1"/>
          </a:p>
        </p:txBody>
      </p:sp>
      <p:sp>
        <p:nvSpPr>
          <p:cNvPr id="20" name="e2d"/>
          <p:cNvSpPr txBox="1"/>
          <p:nvPr/>
        </p:nvSpPr>
        <p:spPr>
          <a:xfrm>
            <a:off x="6985000" y="3556000"/>
            <a:ext cx="4445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免注册、免登录，数据全部本地存储；「悬浮工具条 + 面板弹出」交互直观，学习成本低，常驻不打扰。</a:t>
            </a:r>
            <a:endParaRPr lang="en-US" sz="1300" noProof="1"/>
          </a:p>
        </p:txBody>
      </p:sp>
      <p:sp>
        <p:nvSpPr>
          <p:cNvPr id="21" name="e3"/>
          <p:cNvSpPr txBox="1"/>
          <p:nvPr/>
        </p:nvSpPr>
        <p:spPr>
          <a:xfrm>
            <a:off x="6985000" y="45212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进度可行性与风险</a:t>
            </a:r>
            <a:endParaRPr lang="en-US" sz="1500" noProof="1"/>
          </a:p>
        </p:txBody>
      </p:sp>
      <p:sp>
        <p:nvSpPr>
          <p:cNvPr id="22" name="e3d"/>
          <p:cNvSpPr txBox="1"/>
          <p:nvPr/>
        </p:nvSpPr>
        <p:spPr>
          <a:xfrm>
            <a:off x="6985000" y="4851400"/>
            <a:ext cx="4445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五大模块耦合低、可并行开发，三人人力可覆盖；主要风险为课表 Excel 格式差异与多模块联调，应对：里程碑评审 + 预留缓冲。</a:t>
            </a:r>
            <a:endParaRPr lang="en-US" sz="1300" noProof="1"/>
          </a:p>
        </p:txBody>
      </p:sp>
      <p:sp>
        <p:nvSpPr>
          <p:cNvPr id="23" name="draft-note"/>
          <p:cNvSpPr txBox="1"/>
          <p:nvPr/>
        </p:nvSpPr>
        <p:spPr>
          <a:xfrm>
            <a:off x="6985000" y="6150000"/>
            <a:ext cx="444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本页为初稿，随项目推进滚动修订。</a:t>
            </a:r>
            <a:endParaRPr lang="en-US" sz="1100" noProof="1"/>
          </a:p>
        </p:txBody>
      </p:sp>
      <p:sp>
        <p:nvSpPr>
          <p:cNvPr id="24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  <p:sp>
        <p:nvSpPr>
          <p:cNvPr id="26" name="TextBox 25"/>
          <p:cNvSpPr txBox="1"/>
          <p:nvPr/>
        </p:nvSpPr>
        <p:spPr>
          <a:xfrm>
            <a:off x="6985000" y="5600000"/>
            <a:ext cx="4445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55C52"/>
                </a:solidFill>
                <a:latin typeface="MiSans"/>
              </a:rPr>
              <a:t>法律可行性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5000" y="5900000"/>
            <a:ext cx="4445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A877E"/>
                </a:solidFill>
                <a:latin typeface="MiSans"/>
              </a:rPr>
              <a:t>第三方库遵循开源许可（PyQt5 GPL / PySide6 LGPL，对外发布优先选用 PySide6）；数据本地存储、不联网、不采集个人信息，符合个保法最小必要原则。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05 · 项目计划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七阶段滚动交付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  <p:txBody>
          <a:bodyPr/>
          <a:p/>
        </p:txBody>
      </p:sp>
      <p:graphicFrame>
        <p:nvGraphicFramePr>
          <p:cNvPr id="5" name="wb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33336"/>
              </p:ext>
            </p:extLst>
          </p:nvPr>
        </p:nvGraphicFramePr>
        <p:xfrm>
          <a:off x="762000" y="1803400"/>
          <a:ext cx="10668000" cy="23139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关键任务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交付物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负责人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时间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项目计划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编制项目计划、评审与修订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项目计划及 PPT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全组 · 彭靖轩牵头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W1–W5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可行性研究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关键技术论证与风险分析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可行性分析报告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彭靖轩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需求分析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SRS 编制、需求评审与修订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需求说明 SRS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全组 · 邵博凯牵头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W7–W8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总体与详细设计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架构 / 界面 / 数据库设计、修订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总体与详细设计报告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全组 · 孔世豪牵头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W9–W10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实现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五大模块编码、测试用例设计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代码清单与翻转 PPT2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按模块分工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系统测试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系统测试、评审与修订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系统测试报告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邵博凯牵头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W12–W14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618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总结与总评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总结报告、总评审 PPT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项目总结报告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全组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W15–W16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gantt-label"/>
          <p:cNvSpPr txBox="1"/>
          <p:nvPr/>
        </p:nvSpPr>
        <p:spPr>
          <a:xfrm>
            <a:off x="762000" y="42926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甘特图（W1 = 9/14，与 Project 计划一致）</a:t>
            </a:r>
            <a:endParaRPr lang="en-US" sz="1500" noProof="1"/>
          </a:p>
        </p:txBody>
      </p:sp>
      <p:sp>
        <p:nvSpPr>
          <p:cNvPr id="7" name="ms-legend"/>
          <p:cNvSpPr txBox="1"/>
          <p:nvPr/>
        </p:nvSpPr>
        <p:spPr>
          <a:xfrm>
            <a:off x="4826000" y="43180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A877E"/>
                </a:solidFill>
                <a:latin typeface="MiSans"/>
                <a:ea typeface="MiSans"/>
              </a:rPr>
              <a:t>里程碑：10/11 计划 · 11/1 SRS · 11/22 设计评审 · 11/29 实现 · 12/6 测试报告 · 12/27 总结 · 1/3 终评</a:t>
            </a:r>
            <a:endParaRPr lang="en-US" sz="1000" noProof="1"/>
          </a:p>
        </p:txBody>
      </p:sp>
      <p:sp>
        <p:nvSpPr>
          <p:cNvPr id="8" name="wk1"/>
          <p:cNvSpPr txBox="1"/>
          <p:nvPr/>
        </p:nvSpPr>
        <p:spPr>
          <a:xfrm>
            <a:off x="19812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</a:t>
            </a:r>
            <a:endParaRPr lang="en-US" sz="900" noProof="1"/>
          </a:p>
        </p:txBody>
      </p:sp>
      <p:sp>
        <p:nvSpPr>
          <p:cNvPr id="9" name="wk2"/>
          <p:cNvSpPr txBox="1"/>
          <p:nvPr/>
        </p:nvSpPr>
        <p:spPr>
          <a:xfrm>
            <a:off x="25400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W2</a:t>
            </a:r>
            <a:endParaRPr lang="en-US" sz="900" noProof="1"/>
          </a:p>
        </p:txBody>
      </p:sp>
      <p:sp>
        <p:nvSpPr>
          <p:cNvPr id="10" name="wk3"/>
          <p:cNvSpPr txBox="1"/>
          <p:nvPr/>
        </p:nvSpPr>
        <p:spPr>
          <a:xfrm>
            <a:off x="30988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W3</a:t>
            </a:r>
            <a:endParaRPr lang="en-US" sz="900" noProof="1"/>
          </a:p>
        </p:txBody>
      </p:sp>
      <p:sp>
        <p:nvSpPr>
          <p:cNvPr id="11" name="wk4"/>
          <p:cNvSpPr txBox="1"/>
          <p:nvPr/>
        </p:nvSpPr>
        <p:spPr>
          <a:xfrm>
            <a:off x="36449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W4</a:t>
            </a:r>
            <a:endParaRPr lang="en-US" sz="900" noProof="1"/>
          </a:p>
        </p:txBody>
      </p:sp>
      <p:sp>
        <p:nvSpPr>
          <p:cNvPr id="12" name="wk5"/>
          <p:cNvSpPr txBox="1"/>
          <p:nvPr/>
        </p:nvSpPr>
        <p:spPr>
          <a:xfrm>
            <a:off x="42037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W5</a:t>
            </a:r>
            <a:endParaRPr lang="en-US" sz="900" noProof="1"/>
          </a:p>
        </p:txBody>
      </p:sp>
      <p:sp>
        <p:nvSpPr>
          <p:cNvPr id="13" name="wk6"/>
          <p:cNvSpPr txBox="1"/>
          <p:nvPr/>
        </p:nvSpPr>
        <p:spPr>
          <a:xfrm>
            <a:off x="47625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W6</a:t>
            </a:r>
            <a:endParaRPr lang="en-US" sz="900" noProof="1"/>
          </a:p>
        </p:txBody>
      </p:sp>
      <p:sp>
        <p:nvSpPr>
          <p:cNvPr id="14" name="wk7"/>
          <p:cNvSpPr txBox="1"/>
          <p:nvPr/>
        </p:nvSpPr>
        <p:spPr>
          <a:xfrm>
            <a:off x="53086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W7</a:t>
            </a:r>
            <a:endParaRPr lang="en-US" sz="900" noProof="1"/>
          </a:p>
        </p:txBody>
      </p:sp>
      <p:sp>
        <p:nvSpPr>
          <p:cNvPr id="15" name="wk8"/>
          <p:cNvSpPr txBox="1"/>
          <p:nvPr/>
        </p:nvSpPr>
        <p:spPr>
          <a:xfrm>
            <a:off x="58674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W8</a:t>
            </a:r>
            <a:endParaRPr lang="en-US" sz="900" noProof="1"/>
          </a:p>
        </p:txBody>
      </p:sp>
      <p:sp>
        <p:nvSpPr>
          <p:cNvPr id="16" name="wk9"/>
          <p:cNvSpPr txBox="1"/>
          <p:nvPr/>
        </p:nvSpPr>
        <p:spPr>
          <a:xfrm>
            <a:off x="64262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W9</a:t>
            </a:r>
            <a:endParaRPr lang="en-US" sz="900" noProof="1"/>
          </a:p>
        </p:txBody>
      </p:sp>
      <p:sp>
        <p:nvSpPr>
          <p:cNvPr id="17" name="wk10"/>
          <p:cNvSpPr txBox="1"/>
          <p:nvPr/>
        </p:nvSpPr>
        <p:spPr>
          <a:xfrm>
            <a:off x="69850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W10</a:t>
            </a:r>
            <a:endParaRPr lang="en-US" sz="900" noProof="1"/>
          </a:p>
        </p:txBody>
      </p:sp>
      <p:sp>
        <p:nvSpPr>
          <p:cNvPr id="18" name="wk11"/>
          <p:cNvSpPr txBox="1"/>
          <p:nvPr/>
        </p:nvSpPr>
        <p:spPr>
          <a:xfrm>
            <a:off x="75311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W11</a:t>
            </a:r>
            <a:endParaRPr lang="en-US" sz="900" noProof="1"/>
          </a:p>
        </p:txBody>
      </p:sp>
      <p:sp>
        <p:nvSpPr>
          <p:cNvPr id="19" name="wk12"/>
          <p:cNvSpPr txBox="1"/>
          <p:nvPr/>
        </p:nvSpPr>
        <p:spPr>
          <a:xfrm>
            <a:off x="80899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W12</a:t>
            </a:r>
            <a:endParaRPr lang="en-US" sz="900" noProof="1"/>
          </a:p>
        </p:txBody>
      </p:sp>
      <p:sp>
        <p:nvSpPr>
          <p:cNvPr id="20" name="wk13"/>
          <p:cNvSpPr txBox="1"/>
          <p:nvPr/>
        </p:nvSpPr>
        <p:spPr>
          <a:xfrm>
            <a:off x="86487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W13</a:t>
            </a:r>
            <a:endParaRPr lang="en-US" sz="900" noProof="1"/>
          </a:p>
        </p:txBody>
      </p:sp>
      <p:sp>
        <p:nvSpPr>
          <p:cNvPr id="21" name="wk14"/>
          <p:cNvSpPr txBox="1"/>
          <p:nvPr/>
        </p:nvSpPr>
        <p:spPr>
          <a:xfrm>
            <a:off x="91948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W14</a:t>
            </a:r>
            <a:endParaRPr lang="en-US" sz="900" noProof="1"/>
          </a:p>
        </p:txBody>
      </p:sp>
      <p:sp>
        <p:nvSpPr>
          <p:cNvPr id="22" name="wk15"/>
          <p:cNvSpPr txBox="1"/>
          <p:nvPr/>
        </p:nvSpPr>
        <p:spPr>
          <a:xfrm>
            <a:off x="97536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W15</a:t>
            </a:r>
            <a:endParaRPr lang="en-US" sz="900" noProof="1"/>
          </a:p>
        </p:txBody>
      </p:sp>
      <p:sp>
        <p:nvSpPr>
          <p:cNvPr id="23" name="wk16"/>
          <p:cNvSpPr txBox="1"/>
          <p:nvPr/>
        </p:nvSpPr>
        <p:spPr>
          <a:xfrm>
            <a:off x="103124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W16</a:t>
            </a:r>
            <a:endParaRPr lang="en-US" sz="900" noProof="1"/>
          </a:p>
        </p:txBody>
      </p:sp>
      <p:sp>
        <p:nvSpPr>
          <p:cNvPr id="24" name="wk17"/>
          <p:cNvSpPr txBox="1"/>
          <p:nvPr/>
        </p:nvSpPr>
        <p:spPr>
          <a:xfrm>
            <a:off x="10871200" y="457200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77E"/>
                </a:solidFill>
                <a:latin typeface="MiSans"/>
                <a:ea typeface="MiSans"/>
              </a:rPr>
              <a:t>W17</a:t>
            </a:r>
            <a:endParaRPr lang="en-US" sz="900" noProof="1"/>
          </a:p>
        </p:txBody>
      </p:sp>
      <p:sp>
        <p:nvSpPr>
          <p:cNvPr id="25" name="gl1"/>
          <p:cNvSpPr txBox="1"/>
          <p:nvPr/>
        </p:nvSpPr>
        <p:spPr>
          <a:xfrm>
            <a:off x="635000" y="4775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项目计划</a:t>
            </a:r>
            <a:endParaRPr lang="en-US" sz="1200" noProof="1"/>
          </a:p>
        </p:txBody>
      </p:sp>
      <p:sp>
        <p:nvSpPr>
          <p:cNvPr id="26" name="gb1"/>
          <p:cNvSpPr/>
          <p:nvPr/>
        </p:nvSpPr>
        <p:spPr>
          <a:xfrm>
            <a:off x="1981200" y="4800600"/>
            <a:ext cx="27686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27" name="gl2"/>
          <p:cNvSpPr txBox="1"/>
          <p:nvPr/>
        </p:nvSpPr>
        <p:spPr>
          <a:xfrm>
            <a:off x="635000" y="5003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可行性研究</a:t>
            </a:r>
            <a:endParaRPr lang="en-US" sz="1200" noProof="1"/>
          </a:p>
        </p:txBody>
      </p:sp>
      <p:sp>
        <p:nvSpPr>
          <p:cNvPr id="28" name="gb2"/>
          <p:cNvSpPr/>
          <p:nvPr/>
        </p:nvSpPr>
        <p:spPr>
          <a:xfrm>
            <a:off x="4749800" y="5029200"/>
            <a:ext cx="5588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29" name="gl3"/>
          <p:cNvSpPr txBox="1"/>
          <p:nvPr/>
        </p:nvSpPr>
        <p:spPr>
          <a:xfrm>
            <a:off x="635000" y="5232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需求分析</a:t>
            </a:r>
            <a:endParaRPr lang="en-US" sz="1200" noProof="1"/>
          </a:p>
        </p:txBody>
      </p:sp>
      <p:sp>
        <p:nvSpPr>
          <p:cNvPr id="30" name="gb3"/>
          <p:cNvSpPr/>
          <p:nvPr/>
        </p:nvSpPr>
        <p:spPr>
          <a:xfrm>
            <a:off x="5308600" y="5257800"/>
            <a:ext cx="11176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1" name="gl4"/>
          <p:cNvSpPr txBox="1"/>
          <p:nvPr/>
        </p:nvSpPr>
        <p:spPr>
          <a:xfrm>
            <a:off x="635000" y="5461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总体与详细设计</a:t>
            </a:r>
            <a:endParaRPr lang="en-US" sz="1200" noProof="1"/>
          </a:p>
        </p:txBody>
      </p:sp>
      <p:sp>
        <p:nvSpPr>
          <p:cNvPr id="32" name="gb4"/>
          <p:cNvSpPr/>
          <p:nvPr/>
        </p:nvSpPr>
        <p:spPr>
          <a:xfrm>
            <a:off x="6426200" y="5486400"/>
            <a:ext cx="11049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3" name="gl5"/>
          <p:cNvSpPr txBox="1"/>
          <p:nvPr/>
        </p:nvSpPr>
        <p:spPr>
          <a:xfrm>
            <a:off x="635000" y="5689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实现</a:t>
            </a:r>
            <a:endParaRPr lang="en-US" sz="1200" noProof="1"/>
          </a:p>
        </p:txBody>
      </p:sp>
      <p:sp>
        <p:nvSpPr>
          <p:cNvPr id="34" name="gb5"/>
          <p:cNvSpPr/>
          <p:nvPr/>
        </p:nvSpPr>
        <p:spPr>
          <a:xfrm>
            <a:off x="7531100" y="5715000"/>
            <a:ext cx="5588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5" name="gl6"/>
          <p:cNvSpPr txBox="1"/>
          <p:nvPr/>
        </p:nvSpPr>
        <p:spPr>
          <a:xfrm>
            <a:off x="635000" y="5918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系统测试</a:t>
            </a:r>
            <a:endParaRPr lang="en-US" sz="1200" noProof="1"/>
          </a:p>
        </p:txBody>
      </p:sp>
      <p:sp>
        <p:nvSpPr>
          <p:cNvPr id="36" name="gb6"/>
          <p:cNvSpPr/>
          <p:nvPr/>
        </p:nvSpPr>
        <p:spPr>
          <a:xfrm>
            <a:off x="8089900" y="5943600"/>
            <a:ext cx="16637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7" name="gl7"/>
          <p:cNvSpPr txBox="1"/>
          <p:nvPr/>
        </p:nvSpPr>
        <p:spPr>
          <a:xfrm>
            <a:off x="635000" y="6146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2B2B28"/>
                </a:solidFill>
                <a:latin typeface="MiSans"/>
                <a:ea typeface="MiSans"/>
              </a:rPr>
              <a:t>总结与总评</a:t>
            </a:r>
            <a:endParaRPr lang="en-US" sz="1200" noProof="1"/>
          </a:p>
        </p:txBody>
      </p:sp>
      <p:sp>
        <p:nvSpPr>
          <p:cNvPr id="38" name="gb7"/>
          <p:cNvSpPr/>
          <p:nvPr/>
        </p:nvSpPr>
        <p:spPr>
          <a:xfrm>
            <a:off x="9753600" y="6172200"/>
            <a:ext cx="1104900" cy="139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p/>
        </p:txBody>
      </p:sp>
      <p:sp>
        <p:nvSpPr>
          <p:cNvPr id="39" name="mm1"/>
          <p:cNvSpPr/>
          <p:nvPr/>
        </p:nvSpPr>
        <p:spPr>
          <a:xfrm>
            <a:off x="39243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0" name="mm2"/>
          <p:cNvSpPr/>
          <p:nvPr/>
        </p:nvSpPr>
        <p:spPr>
          <a:xfrm>
            <a:off x="55880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1" name="mm3"/>
          <p:cNvSpPr/>
          <p:nvPr/>
        </p:nvSpPr>
        <p:spPr>
          <a:xfrm>
            <a:off x="72644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2" name="mm4"/>
          <p:cNvSpPr/>
          <p:nvPr/>
        </p:nvSpPr>
        <p:spPr>
          <a:xfrm>
            <a:off x="78105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3" name="mm5"/>
          <p:cNvSpPr/>
          <p:nvPr/>
        </p:nvSpPr>
        <p:spPr>
          <a:xfrm>
            <a:off x="83693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4" name="mm6"/>
          <p:cNvSpPr/>
          <p:nvPr/>
        </p:nvSpPr>
        <p:spPr>
          <a:xfrm>
            <a:off x="100330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5" name="mm7"/>
          <p:cNvSpPr/>
          <p:nvPr/>
        </p:nvSpPr>
        <p:spPr>
          <a:xfrm>
            <a:off x="10591800" y="6324600"/>
            <a:ext cx="127000" cy="127000"/>
          </a:xfrm>
          <a:prstGeom prst="diamond">
            <a:avLst/>
          </a:prstGeom>
          <a:solidFill>
            <a:srgbClr val="C2863A"/>
          </a:solidFill>
          <a:ln>
            <a:noFill/>
          </a:ln>
        </p:spPr>
        <p:txBody>
          <a:bodyPr/>
          <a:p/>
        </p:txBody>
      </p:sp>
      <p:sp>
        <p:nvSpPr>
          <p:cNvPr id="46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47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06 · 计划保障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四项机制：预算、配置、会议、绩效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b1"/>
          <p:cNvSpPr txBox="1"/>
          <p:nvPr/>
        </p:nvSpPr>
        <p:spPr>
          <a:xfrm>
            <a:off x="762000" y="19812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预算</a:t>
            </a:r>
            <a:endParaRPr lang="en-US" sz="1500" noProof="1"/>
          </a:p>
        </p:txBody>
      </p:sp>
      <p:sp>
        <p:nvSpPr>
          <p:cNvPr id="6" name="b1d"/>
          <p:cNvSpPr txBox="1"/>
          <p:nvPr/>
        </p:nvSpPr>
        <p:spPr>
          <a:xfrm>
            <a:off x="762000" y="23368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经济成本 0 元：全开源技术栈，无授权与硬件投入；工时预算约 300 人时（3 人 × 约 17 周 × 每周约 6 小时），设计与编码阶段占约六成，期末前预留缓冲。</a:t>
            </a:r>
            <a:endParaRPr lang="en-US" sz="1300" noProof="1"/>
          </a:p>
        </p:txBody>
      </p:sp>
      <p:sp>
        <p:nvSpPr>
          <p:cNvPr id="7" name="b2"/>
          <p:cNvSpPr txBox="1"/>
          <p:nvPr/>
        </p:nvSpPr>
        <p:spPr>
          <a:xfrm>
            <a:off x="6477000" y="19812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配置管理</a:t>
            </a:r>
            <a:endParaRPr lang="en-US" sz="1500" noProof="1"/>
          </a:p>
        </p:txBody>
      </p:sp>
      <p:sp>
        <p:nvSpPr>
          <p:cNvPr id="8" name="b2d"/>
          <p:cNvSpPr txBox="1"/>
          <p:nvPr/>
        </p:nvSpPr>
        <p:spPr>
          <a:xfrm>
            <a:off x="6477000" y="23368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需求与设计文档版本化，评审通过后基线化，变更需记录。</a:t>
            </a:r>
            <a:endParaRPr lang="en-US" sz="1300" noProof="1"/>
          </a:p>
        </p:txBody>
      </p:sp>
      <p:sp>
        <p:nvSpPr>
          <p:cNvPr id="9" name="h-rule"/>
          <p:cNvSpPr/>
          <p:nvPr/>
        </p:nvSpPr>
        <p:spPr>
          <a:xfrm>
            <a:off x="762000" y="38100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0" name="v-rule"/>
          <p:cNvSpPr/>
          <p:nvPr/>
        </p:nvSpPr>
        <p:spPr>
          <a:xfrm>
            <a:off x="6096000" y="1981200"/>
            <a:ext cx="12700" cy="36576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11" name="b3"/>
          <p:cNvSpPr txBox="1"/>
          <p:nvPr/>
        </p:nvSpPr>
        <p:spPr>
          <a:xfrm>
            <a:off x="762000" y="40894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会议制度</a:t>
            </a:r>
            <a:endParaRPr lang="en-US" sz="1500" noProof="1"/>
          </a:p>
        </p:txBody>
      </p:sp>
      <p:sp>
        <p:nvSpPr>
          <p:cNvPr id="12" name="b3d"/>
          <p:cNvSpPr txBox="1"/>
          <p:nvPr/>
        </p:nvSpPr>
        <p:spPr>
          <a:xfrm>
            <a:off x="762000" y="44450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每周例会一次，输出会议纪要（决议、待办、责任人、截止时间）；已召开 2 次（10/8、10/15）并归档。里程碑评审会对照计划检查偏差并滚动调整，必要时重排任务。</a:t>
            </a:r>
            <a:endParaRPr lang="en-US" sz="1300" noProof="1"/>
          </a:p>
        </p:txBody>
      </p:sp>
      <p:sp>
        <p:nvSpPr>
          <p:cNvPr id="13" name="b4"/>
          <p:cNvSpPr txBox="1"/>
          <p:nvPr/>
        </p:nvSpPr>
        <p:spPr>
          <a:xfrm>
            <a:off x="6477000" y="40894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355C52"/>
                </a:solidFill>
                <a:latin typeface="MiSans"/>
                <a:ea typeface="MiSans"/>
              </a:rPr>
              <a:t>绩效评价</a:t>
            </a:r>
            <a:endParaRPr lang="en-US" sz="1500" noProof="1"/>
          </a:p>
        </p:txBody>
      </p:sp>
      <p:sp>
        <p:nvSpPr>
          <p:cNvPr id="14" name="b4d"/>
          <p:cNvSpPr txBox="1"/>
          <p:nvPr/>
        </p:nvSpPr>
        <p:spPr>
          <a:xfrm>
            <a:off x="6477000" y="44450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8A877E"/>
                </a:solidFill>
                <a:latin typeface="MiSans"/>
                <a:ea typeface="MiSans"/>
              </a:rPr>
              <a:t>每个里程碑按完成度、责任心、协作沟通、技术贡献四个维度组内互评；评价结果作为后续任务再分配与工作量调整的依据。</a:t>
            </a:r>
            <a:endParaRPr lang="en-US" sz="1300" noProof="1"/>
          </a:p>
        </p:txBody>
      </p:sp>
      <p:sp>
        <p:nvSpPr>
          <p:cNvPr id="15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07 · 组员分工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三人协作：功能到人，文档到组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tbl-top"/>
          <p:cNvSpPr/>
          <p:nvPr/>
        </p:nvSpPr>
        <p:spPr>
          <a:xfrm>
            <a:off x="762000" y="2032000"/>
            <a:ext cx="10668000" cy="12700"/>
          </a:xfrm>
          <a:prstGeom prst="rect">
            <a:avLst/>
          </a:prstGeom>
          <a:solidFill>
            <a:srgbClr val="2B2B28"/>
          </a:solidFill>
          <a:ln>
            <a:noFill/>
          </a:ln>
        </p:spPr>
      </p:sp>
      <p:graphicFrame>
        <p:nvGraphicFramePr>
          <p:cNvPr id="6" name="duty-table"/>
          <p:cNvGraphicFramePr>
            <a:graphicFrameLocks noGrp="1"/>
          </p:cNvGraphicFramePr>
          <p:nvPr/>
        </p:nvGraphicFramePr>
        <p:xfrm>
          <a:off x="762000" y="2159000"/>
          <a:ext cx="10668000" cy="2743199"/>
        </p:xfrm>
        <a:graphic>
          <a:graphicData uri="http://schemas.openxmlformats.org/drawingml/2006/table">
            <a:tbl>
              <a:tblPr/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成员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主要负责功能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协同工作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69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彭靖轩（组长）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剪贴板历史记录、消息提醒窗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系统集成与进度把控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434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邵博凯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任务清单、课表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测试用例设计与执行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434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孔世豪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文件快速检索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界面整合、文档与报告撰写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bl-bottom"/>
          <p:cNvSpPr/>
          <p:nvPr/>
        </p:nvSpPr>
        <p:spPr>
          <a:xfrm>
            <a:off x="762000" y="5029200"/>
            <a:ext cx="10668000" cy="12700"/>
          </a:xfrm>
          <a:prstGeom prst="rect">
            <a:avLst/>
          </a:prstGeom>
          <a:solidFill>
            <a:srgbClr val="2B2B28"/>
          </a:solidFill>
          <a:ln>
            <a:noFill/>
          </a:ln>
        </p:spPr>
      </p:sp>
      <p:sp>
        <p:nvSpPr>
          <p:cNvPr id="8" name="duty-note"/>
          <p:cNvSpPr txBox="1"/>
          <p:nvPr/>
        </p:nvSpPr>
        <p:spPr>
          <a:xfrm>
            <a:off x="762000" y="5232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A877E"/>
                </a:solidFill>
                <a:latin typeface="MiSans"/>
                <a:ea typeface="MiSans"/>
              </a:rPr>
              <a:t>注：分工为拟定方案，可视实际进度与成员特长调整。</a:t>
            </a:r>
            <a:endParaRPr lang="en-US" sz="1200" noProof="1"/>
          </a:p>
        </p:txBody>
      </p:sp>
      <p:sp>
        <p:nvSpPr>
          <p:cNvPr id="9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10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09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08 · 团队会议纪要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每周四例会 · 已召开 2 次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</p:sp>
      <p:sp>
        <p:nvSpPr>
          <p:cNvPr id="5" name="refs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B2B28"/>
                </a:solidFill>
                <a:latin typeface="MiSans"/>
                <a:ea typeface="MiSans"/>
              </a:rPr>
              <a:t>第 1 次（10/8）计划定稿：通过计划书全部内容，锁定五大功能边界与 7 项里程碑，PPT 定稿并明确汇报分工　｜　第 2 次（10/15）评审修订：按 10/14 评审意见细化进度、风险落实到责任人，启动可行性研究（W6），Git 仓库建立 v0.1 基线；两次例会均输出完整纪要（决议 / 待办 / 责任人 / 截止时间）并归档，下次例会 10/22。</a:t>
            </a:r>
            <a:endParaRPr lang="en-US" sz="1400" noProof="1"/>
          </a:p>
        </p:txBody>
      </p:sp>
      <p:sp>
        <p:nvSpPr>
          <p:cNvPr id="6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7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10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label"/>
          <p:cNvSpPr txBox="1"/>
          <p:nvPr/>
        </p:nvSpPr>
        <p:spPr>
          <a:xfrm>
            <a:off x="7620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C2863A"/>
                </a:solidFill>
                <a:latin typeface="MiSans"/>
                <a:ea typeface="MiSans"/>
              </a:rPr>
              <a:t>09 · 组员评价</a:t>
            </a:r>
            <a:endParaRPr lang="en-US" sz="1300" noProof="1"/>
          </a:p>
        </p:txBody>
      </p:sp>
      <p:sp>
        <p:nvSpPr>
          <p:cNvPr id="3" name="p-title"/>
          <p:cNvSpPr txBox="1"/>
          <p:nvPr/>
        </p:nvSpPr>
        <p:spPr>
          <a:xfrm>
            <a:off x="762000" y="914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2B2B28"/>
                </a:solidFill>
                <a:latin typeface="MiSans"/>
                <a:ea typeface="MiSans"/>
              </a:rPr>
              <a:t>组内互评 · M1 计划阶段（量化评分）</a:t>
            </a:r>
            <a:endParaRPr lang="en-US" sz="3000" noProof="1"/>
          </a:p>
        </p:txBody>
      </p:sp>
      <p:sp>
        <p:nvSpPr>
          <p:cNvPr id="4" name="p-rule"/>
          <p:cNvSpPr/>
          <p:nvPr/>
        </p:nvSpPr>
        <p:spPr>
          <a:xfrm>
            <a:off x="762000" y="1625600"/>
            <a:ext cx="10668000" cy="12700"/>
          </a:xfrm>
          <a:prstGeom prst="rect">
            <a:avLst/>
          </a:prstGeom>
          <a:solidFill>
            <a:srgbClr val="E3DED3"/>
          </a:solidFill>
          <a:ln>
            <a:noFill/>
          </a:ln>
        </p:spPr>
        <p:txBody>
          <a:bodyPr/>
          <a:p/>
        </p:txBody>
      </p:sp>
      <p:sp>
        <p:nvSpPr>
          <p:cNvPr id="5" name="dim-note"/>
          <p:cNvSpPr txBox="1"/>
          <p:nvPr/>
        </p:nvSpPr>
        <p:spPr>
          <a:xfrm>
            <a:off x="762000" y="1879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355C52"/>
                </a:solidFill>
                <a:latin typeface="MiSans"/>
                <a:ea typeface="MiSans"/>
              </a:rPr>
              <a:t>评价维度：任务完成度（35%）· 责任心（25%）· 协作沟通（20%）· 技术贡献（20%），百分制加权</a:t>
            </a:r>
            <a:endParaRPr lang="en-US" sz="1400" noProof="1"/>
          </a:p>
        </p:txBody>
      </p:sp>
      <p:sp>
        <p:nvSpPr>
          <p:cNvPr id="6" name="tbl-top"/>
          <p:cNvSpPr/>
          <p:nvPr/>
        </p:nvSpPr>
        <p:spPr>
          <a:xfrm>
            <a:off x="762000" y="2362200"/>
            <a:ext cx="10668000" cy="12700"/>
          </a:xfrm>
          <a:prstGeom prst="rect">
            <a:avLst/>
          </a:prstGeom>
          <a:solidFill>
            <a:srgbClr val="2B2B28"/>
          </a:solidFill>
          <a:ln>
            <a:noFill/>
          </a:ln>
        </p:spPr>
        <p:txBody>
          <a:bodyPr/>
          <a:p/>
        </p:txBody>
      </p:sp>
      <p:graphicFrame>
        <p:nvGraphicFramePr>
          <p:cNvPr id="7" name="eval-table"/>
          <p:cNvGraphicFramePr>
            <a:graphicFrameLocks noGrp="1"/>
          </p:cNvGraphicFramePr>
          <p:nvPr/>
        </p:nvGraphicFramePr>
        <p:xfrm>
          <a:off x="762000" y="2489200"/>
          <a:ext cx="10668000" cy="2743199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成员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主要贡献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组内评价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69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彭靖轩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计划书主编、PPT 终稿、可行性牵头、进度把控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96 · 96 · 95 · 94 ｜ 综合 95.4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434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邵博凯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里程碑核对、Git 仓库与 v0.1 基线、测试准备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95 · 95 · 94 · 93 ｜ 综合 94.4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434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孔世豪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会议纪要 ×2、Project 甘特图、界面整合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B2B28"/>
                          </a:solidFill>
                          <a:latin typeface="Times New Roman"/>
                          <a:ea typeface="Times New Roman"/>
                        </a:rPr>
                        <a:t>95 · 94 · 95 · 93 ｜ 综合 94.4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bl-bottom"/>
          <p:cNvSpPr/>
          <p:nvPr/>
        </p:nvSpPr>
        <p:spPr>
          <a:xfrm>
            <a:off x="762000" y="5359400"/>
            <a:ext cx="10668000" cy="12700"/>
          </a:xfrm>
          <a:prstGeom prst="rect">
            <a:avLst/>
          </a:prstGeom>
          <a:solidFill>
            <a:srgbClr val="2B2B28"/>
          </a:solidFill>
          <a:ln>
            <a:noFill/>
          </a:ln>
        </p:spPr>
        <p:txBody>
          <a:bodyPr/>
          <a:p/>
        </p:txBody>
      </p:sp>
      <p:sp>
        <p:nvSpPr>
          <p:cNvPr id="9" name="footer"/>
          <p:cNvSpPr txBox="1"/>
          <p:nvPr/>
        </p:nvSpPr>
        <p:spPr>
          <a:xfrm>
            <a:off x="762000" y="645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桌面效率助手 · 项目介绍</a:t>
            </a:r>
            <a:endParaRPr lang="en-US" sz="1100" noProof="1"/>
          </a:p>
        </p:txBody>
      </p:sp>
      <p:sp>
        <p:nvSpPr>
          <p:cNvPr id="10" name="page-num"/>
          <p:cNvSpPr txBox="1"/>
          <p:nvPr/>
        </p:nvSpPr>
        <p:spPr>
          <a:xfrm>
            <a:off x="10922000" y="6451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A877E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5C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-sub"/>
          <p:cNvSpPr txBox="1"/>
          <p:nvPr/>
        </p:nvSpPr>
        <p:spPr>
          <a:xfrm>
            <a:off x="1016000" y="62865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桌面效率助手 · 软件工程课程项目</a:t>
            </a:r>
            <a:endParaRPr lang="en-US" sz="1600" noProof="1"/>
          </a:p>
        </p:txBody>
      </p:sp>
      <p:sp>
        <p:nvSpPr>
          <p:cNvPr id="3" name="c-meta"/>
          <p:cNvSpPr txBox="1"/>
          <p:nvPr/>
        </p:nvSpPr>
        <p:spPr>
          <a:xfrm>
            <a:off x="1016000" y="1210310"/>
            <a:ext cx="8890000" cy="233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7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G</a:t>
            </a:r>
            <a:r>
              <a:rPr lang="en-US" sz="15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06 小组 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(</a:t>
            </a:r>
            <a:r>
              <a:rPr lang="en-US" sz="17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组长) 彭靖轩 32401206@stu.hzcu.edu.cn 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7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邵博凯 32401207@stu.hzcu.edu.cn 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7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孔世豪 32401202@stu.hzcu.edu.cn</a:t>
            </a:r>
            <a:endParaRPr lang="en-US" sz="1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868</Words>
  <Application>Microsoft Office PowerPoint</Application>
  <PresentationFormat>宽屏</PresentationFormat>
  <Paragraphs>226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Times New Roman</vt:lpstr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彭靖轩</dc:creator>
  <cp:lastModifiedBy>靖轩 彭</cp:lastModifiedBy>
  <cp:revision>5</cp:revision>
  <dcterms:modified xsi:type="dcterms:W3CDTF">2026-10-18T12:37:29Z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